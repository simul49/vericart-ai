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F6A2C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1554480"/>
            <a:ext cx="4937760" cy="4937760"/>
          </a:xfrm>
          <a:prstGeom prst="ellipse">
            <a:avLst/>
          </a:prstGeom>
          <a:solidFill>
            <a:srgbClr val="FF6A2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06640" y="-822960"/>
            <a:ext cx="2834640" cy="2834640"/>
          </a:xfrm>
          <a:prstGeom prst="ellipse">
            <a:avLst/>
          </a:prstGeom>
          <a:solidFill>
            <a:srgbClr val="FF6A2C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82128" y="932688"/>
            <a:ext cx="932688" cy="932688"/>
          </a:xfrm>
          <a:prstGeom prst="ellipse">
            <a:avLst/>
          </a:prstGeom>
          <a:solidFill>
            <a:srgbClr val="FF6A2C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3954" y="1184514"/>
            <a:ext cx="429036" cy="4290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0789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VERICART AI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55448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rating you see is the rating you can believe.</a:t>
            </a:r>
            <a:endParaRPr lang="en-US" sz="3700" dirty="0"/>
          </a:p>
        </p:txBody>
      </p:sp>
      <p:sp>
        <p:nvSpPr>
          <p:cNvPr id="9" name="Text 6"/>
          <p:cNvSpPr/>
          <p:nvPr/>
        </p:nvSpPr>
        <p:spPr>
          <a:xfrm>
            <a:off x="502920" y="32461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review verification, sentiment analysis and an explainable Trust Score for e-commerce — driven by DeepSeek, Kimi and Hunyuan.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4206240"/>
            <a:ext cx="1830629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206240"/>
            <a:ext cx="183062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Spring Boot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34717" y="4206240"/>
            <a:ext cx="1589227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534717" y="4206240"/>
            <a:ext cx="15892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 + Docker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25112" y="4206240"/>
            <a:ext cx="191109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325112" y="4206240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Multi-LLM AI Gateway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02920" y="4791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VeriCart AI · Platform overview · September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Online reviews are being gamed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2468880" cy="3246120"/>
          </a:xfrm>
          <a:prstGeom prst="roundRect">
            <a:avLst>
              <a:gd name="adj" fmla="val 2963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30–40%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online reviews are estimated to be unreliable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reviewers · bots · seller manipulation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481328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709928"/>
            <a:ext cx="457200" cy="457200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3884" y="1833372"/>
            <a:ext cx="210312" cy="210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60520" y="16276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Buyers make expensive mistakes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160520" y="195681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Five-star averages hide products that were never genuinely praised.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46120" y="2542032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520440" y="2770632"/>
            <a:ext cx="457200" cy="457200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3884" y="2894076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60520" y="26883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sellers get buried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160520" y="30175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who buy ratings outrank quality products on the same page.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246120" y="3602736"/>
            <a:ext cx="53949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3520440" y="3831336"/>
            <a:ext cx="457200" cy="457200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884" y="3954780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160520" y="37490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Platforms lose credibility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4160520" y="4078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reviews cannot be trusted, the whole marketplace loses value.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02920" y="4791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raw star average blends genuine and fake feedback into a single misleading number.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review is verified by AI in seconds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66928" cy="566928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435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posted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7282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submits a rating and text — published instantly, nothing waits on AI.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66928" cy="566928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21214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Marked Pending AI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4140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AI reads it, the UI shows a neutral “Pending AI” badge.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566928" cy="566928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88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2807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reads the review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0998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checks authenticity; Kimi reads sentiment and emotion.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3474720"/>
            <a:ext cx="566928" cy="566928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493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Verdict badge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7856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Likely genuine, uncertain, or ⚠ suspicious — with the reason shown.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4160520"/>
            <a:ext cx="566928" cy="566928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160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80160" y="4178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recalculates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447141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Trust Score and Trusted Rating update for the product.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141732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55080" y="162763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shoppers see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82512" y="2139696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6620256" y="2029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genuine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20256" y="228600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probability &lt; 30%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82512" y="279806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620256" y="26883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20256" y="294436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≥ 30%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82512" y="3456432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6620256" y="33467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620256" y="36027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the rating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55080" y="3913632"/>
            <a:ext cx="2057400" cy="502920"/>
          </a:xfrm>
          <a:prstGeom prst="roundRect">
            <a:avLst>
              <a:gd name="adj" fmla="val 49091"/>
            </a:avLst>
          </a:prstGeom>
          <a:solidFill>
            <a:srgbClr val="D1FAE5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91363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Auto-analysis every ~30 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02920" y="4791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scheduler cycles the catalogue (up to 20 products per run) · or click “Refresh Analysis”.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TRUST SCORE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weighted factors, one honest 0–100 score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347472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46120" y="14630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023360" y="1463040"/>
            <a:ext cx="4617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it measures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810512"/>
            <a:ext cx="8138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810512"/>
            <a:ext cx="6400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81051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Authenticity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181051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023360" y="18105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of reviews that pass AI fake detection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267712"/>
            <a:ext cx="8138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267712"/>
            <a:ext cx="64008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" y="226771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226771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023360" y="22677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tone of genuine reviews (Kimi)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2724912"/>
            <a:ext cx="8138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724912"/>
            <a:ext cx="64008" cy="457200"/>
          </a:xfrm>
          <a:prstGeom prst="rect">
            <a:avLst/>
          </a:prstGeom>
          <a:solidFill>
            <a:srgbClr val="FF6A2C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272491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Purchases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46120" y="272491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20%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023360" y="27249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linked to confirmed orders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182112"/>
            <a:ext cx="8138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182112"/>
            <a:ext cx="64008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67512" y="318211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Volume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46120" y="318211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023360" y="31821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reviews = statistically more reliable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02920" y="3639312"/>
            <a:ext cx="8138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2920" y="3639312"/>
            <a:ext cx="64008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" y="3639312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Consistency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46120" y="363931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023360" y="363931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ratings score high; wild spread is a red flag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thresholds: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874520" y="4425696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5" name="Text 33"/>
          <p:cNvSpPr/>
          <p:nvPr/>
        </p:nvSpPr>
        <p:spPr>
          <a:xfrm>
            <a:off x="2075688" y="4315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85+  Excellent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538728" y="4425696"/>
            <a:ext cx="128016" cy="128016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37" name="Text 35"/>
          <p:cNvSpPr/>
          <p:nvPr/>
        </p:nvSpPr>
        <p:spPr>
          <a:xfrm>
            <a:off x="3739896" y="4315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70–84  High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02936" y="4425696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9" name="Text 37"/>
          <p:cNvSpPr/>
          <p:nvPr/>
        </p:nvSpPr>
        <p:spPr>
          <a:xfrm>
            <a:off x="5404104" y="4315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50–69  Medium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67144" y="4425696"/>
            <a:ext cx="128016" cy="12801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1" name="Text 39"/>
          <p:cNvSpPr/>
          <p:nvPr/>
        </p:nvSpPr>
        <p:spPr>
          <a:xfrm>
            <a:off x="7068312" y="431596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0–49  Low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2920" y="4791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authenticity 30 · sentiment 30 · verified 20 · volume 10 · consistency 10 — always explained, never a black box.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TRANSPARENT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number, fully explained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44752"/>
            <a:ext cx="4480560" cy="310896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447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 score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834640" y="144475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×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11880" y="14447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51960" y="14447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Points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4480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7556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Authenticity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834640" y="175564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611880" y="17556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.30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51960" y="17556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121408"/>
            <a:ext cx="4480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" y="21214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Sentiment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834640" y="212140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11880" y="21214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.30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51960" y="212140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21.0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2487168"/>
            <a:ext cx="4480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24871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Purchases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834640" y="248716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11880" y="24871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51960" y="248716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02920" y="2852928"/>
            <a:ext cx="4480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" y="28529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Volume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34640" y="285292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11880" y="2852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.10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51960" y="285292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3218688"/>
            <a:ext cx="448056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A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" y="32186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Consistency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834640" y="3218688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611880" y="32186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.10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51960" y="321868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3712464"/>
            <a:ext cx="4480560" cy="457200"/>
          </a:xfrm>
          <a:prstGeom prst="rect">
            <a:avLst/>
          </a:prstGeom>
          <a:solidFill>
            <a:srgbClr val="FFE8DB"/>
          </a:solidFill>
          <a:ln/>
        </p:spPr>
      </p:sp>
      <p:sp>
        <p:nvSpPr>
          <p:cNvPr id="35" name="Text 33"/>
          <p:cNvSpPr/>
          <p:nvPr/>
        </p:nvSpPr>
        <p:spPr>
          <a:xfrm>
            <a:off x="612648" y="3712464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5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Score = 27 + 21 + 10 + 10 + 8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02920" y="42611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example: 50 reviews · 5 flagged · 35 positive · 25 verified · σ = 0.5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49240" y="1481328"/>
            <a:ext cx="3291840" cy="3291840"/>
          </a:xfrm>
          <a:prstGeom prst="roundRect">
            <a:avLst>
              <a:gd name="adj" fmla="val 2500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309360" y="1828800"/>
            <a:ext cx="1371600" cy="1371600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193852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76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630936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349240" y="34015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5349240" y="3785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band 70–84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41330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Recalculated automatically whenever new reviews arrive.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2920" y="4791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scores are computed deterministically from analysed reviews — the displayed number is fully reproducible.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Rating vs Trusted Rating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3566160" cy="2377440"/>
          </a:xfrm>
          <a:prstGeom prst="roundRect">
            <a:avLst>
              <a:gd name="adj" fmla="val 2692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FEE2E2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3028" y="1964588"/>
            <a:ext cx="231343" cy="231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01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RATING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2286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4.33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777240" y="32918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every star rating — including fake or paid reviews.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24528" y="2542032"/>
            <a:ext cx="566928" cy="566928"/>
          </a:xfrm>
          <a:prstGeom prst="ellipse">
            <a:avLst/>
          </a:prstGeom>
          <a:solidFill>
            <a:srgbClr val="FF6A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688336"/>
            <a:ext cx="274320" cy="2743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956048" y="1572768"/>
            <a:ext cx="368503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230368" y="1828800"/>
            <a:ext cx="502920" cy="502920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156" y="1964588"/>
            <a:ext cx="231343" cy="23134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70448" y="1901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TRUSTED RATING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230368" y="22860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4.11</a:t>
            </a:r>
            <a:endParaRPr lang="en-US" sz="5200" dirty="0"/>
          </a:p>
        </p:txBody>
      </p:sp>
      <p:sp>
        <p:nvSpPr>
          <p:cNvPr id="17" name="Text 12"/>
          <p:cNvSpPr/>
          <p:nvPr/>
        </p:nvSpPr>
        <p:spPr>
          <a:xfrm>
            <a:off x="5230368" y="3291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after the AI removes flagged suspicious reviews — the honest number buyers see.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02920" y="4160520"/>
            <a:ext cx="8138160" cy="457200"/>
          </a:xfrm>
          <a:prstGeom prst="roundRect">
            <a:avLst>
              <a:gd name="adj" fmla="val 50000"/>
            </a:avLst>
          </a:prstGeom>
          <a:solidFill>
            <a:srgbClr val="FFE8DB"/>
          </a:solidFill>
          <a:ln/>
        </p:spPr>
      </p:sp>
      <p:sp>
        <p:nvSpPr>
          <p:cNvPr id="19" name="Text 14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45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suspicious reviews removed by the AI — with the reason for each shown to the shopper.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502920" y="4791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Fake-inflated ratings cannot hide: the Trusted Rating falls when suspicious reviews are removed.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LAYER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DeepSeek · Kimi · Hunyuan — one resilient gateway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87752" cy="283464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493776" cy="493776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408" y="1797528"/>
            <a:ext cx="227137" cy="2271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DeepSeek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0116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REASONING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22376" y="2359152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Fake-review detection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authenticity reasoning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Trust-score base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fallback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82696" y="1463040"/>
            <a:ext cx="2587752" cy="283464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83864" y="1664208"/>
            <a:ext cx="493776" cy="493776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184" y="1797528"/>
            <a:ext cx="227137" cy="22713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05656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Kimi (Moonshot)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105656" y="20116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CONVERSATION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502152" y="2359152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Per-review sentiment + emotion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sentiment ratio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assistant &amp; recommendations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auto-replies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62472" y="1463040"/>
            <a:ext cx="2587752" cy="2834640"/>
          </a:xfrm>
          <a:prstGeom prst="roundRect">
            <a:avLst>
              <a:gd name="adj" fmla="val 2473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664208"/>
            <a:ext cx="493776" cy="493776"/>
          </a:xfrm>
          <a:prstGeom prst="ellipse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6960" y="1797528"/>
            <a:ext cx="227137" cy="2271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85432" y="17373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Hunyuan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885432" y="2011680"/>
            <a:ext cx="1691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SUMMARISATION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6281928" y="2359152"/>
            <a:ext cx="2194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review summaries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Chinese-friendly text</a:t>
            </a:r>
            <a:endParaRPr lang="en-US" sz="1100" dirty="0"/>
          </a:p>
          <a:p>
            <a:pPr marL="101600" indent="-1016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context for shoppers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4407408"/>
            <a:ext cx="8138160" cy="36576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/>
        </p:spPr>
      </p:sp>
      <p:sp>
        <p:nvSpPr>
          <p:cNvPr id="23" name="Text 18"/>
          <p:cNvSpPr/>
          <p:nvPr/>
        </p:nvSpPr>
        <p:spPr>
          <a:xfrm>
            <a:off x="502920" y="44074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chain:  Kimi  →  DeepSeek  →  Mock      ·      One Tencent Cloud TokenHub key serves all three models      ·      Mock mode runs fully offline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502920" y="4791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deepseek-v4-pro-0813 · kimi-k3 · hy4-preview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SCREEN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is woven through the whole experience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87752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1755648"/>
            <a:ext cx="457200" cy="457200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" y="1879092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52728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 Trust Score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52728" y="202996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with five weighted reasons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73552" y="1463040"/>
            <a:ext cx="2587752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38144" y="1755648"/>
            <a:ext cx="457200" cy="457200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1588" y="1879092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Fake-review detection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023360" y="202996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paid &amp; bot reviews in real time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44184" y="1463040"/>
            <a:ext cx="2587752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08776" y="1755648"/>
            <a:ext cx="457200" cy="457200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879092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3992" y="160020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Sentiment &amp; emotion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793992" y="202996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/ NEGATIVE plus an emotion tag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02920" y="2670048"/>
            <a:ext cx="2587752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67512" y="2962656"/>
            <a:ext cx="457200" cy="457200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3086100"/>
            <a:ext cx="210312" cy="2103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52728" y="28072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Topic extraction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252728" y="323697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buyers say about price, comfort, delivery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73552" y="2670048"/>
            <a:ext cx="2587752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38144" y="2962656"/>
            <a:ext cx="457200" cy="457200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588" y="3086100"/>
            <a:ext cx="210312" cy="2103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28072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Shopping assistant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023360" y="323697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to find, filter and shortlist products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44184" y="2670048"/>
            <a:ext cx="2587752" cy="1042416"/>
          </a:xfrm>
          <a:prstGeom prst="roundRect">
            <a:avLst>
              <a:gd name="adj" fmla="val 614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08776" y="2962656"/>
            <a:ext cx="457200" cy="457200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086100"/>
            <a:ext cx="210312" cy="2103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93992" y="280720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Compare products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793992" y="323697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AI comparison of up to 4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02920" y="3931920"/>
            <a:ext cx="81381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31520" y="4078224"/>
            <a:ext cx="365760" cy="365760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275" y="4176979"/>
            <a:ext cx="168250" cy="16825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234440" y="400507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Always explainable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1234440" y="4261104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verdict — a score, a flag, or a chat answer — comes with the reasoning, so users never take the machine on faith.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502920" y="4791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UI (English / 中文) surfaces each result consistently.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Clean three-tier architecture, plus an AI layer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146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457200" cy="457200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787652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8016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SPA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22376" y="230428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Plus UI · Pinia state · i18n EN/中文 · Axios calls the REST API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127248" y="1463040"/>
            <a:ext cx="25146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28416" y="1664208"/>
            <a:ext cx="457200" cy="457200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1787652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04488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904488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· Java 17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346704" y="230428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 → services → MyBatis mappers · JWT + role security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989320" y="1463040"/>
            <a:ext cx="2514600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90488" y="1664208"/>
            <a:ext cx="457200" cy="457200"/>
          </a:xfrm>
          <a:prstGeom prst="ellipse">
            <a:avLst/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932" y="1787652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766560" y="1920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208776" y="230428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tables for catalogue, commerce and the AI trust lifecycle · JSON columns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3520440"/>
            <a:ext cx="8138160" cy="1051560"/>
          </a:xfrm>
          <a:prstGeom prst="roundRect">
            <a:avLst>
              <a:gd name="adj" fmla="val 7826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772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LAYER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777240" y="385876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AiGateway routes each task to the best model and falls back gracefully when one fails.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4983480" y="4023360"/>
            <a:ext cx="859536" cy="365760"/>
          </a:xfrm>
          <a:prstGeom prst="roundRect">
            <a:avLst>
              <a:gd name="adj" fmla="val 50000"/>
            </a:avLst>
          </a:prstGeom>
          <a:solidFill>
            <a:srgbClr val="FF6A2C"/>
          </a:solidFill>
          <a:ln/>
        </p:spPr>
      </p:sp>
      <p:sp>
        <p:nvSpPr>
          <p:cNvPr id="26" name="Text 21"/>
          <p:cNvSpPr/>
          <p:nvPr/>
        </p:nvSpPr>
        <p:spPr>
          <a:xfrm>
            <a:off x="4983480" y="4023360"/>
            <a:ext cx="8595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916168" y="402336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FF6A2C"/>
          </a:solidFill>
          <a:ln/>
        </p:spPr>
      </p:sp>
      <p:sp>
        <p:nvSpPr>
          <p:cNvPr id="28" name="Text 23"/>
          <p:cNvSpPr/>
          <p:nvPr/>
        </p:nvSpPr>
        <p:spPr>
          <a:xfrm>
            <a:off x="5916168" y="402336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6647688" y="4023360"/>
            <a:ext cx="809244" cy="365760"/>
          </a:xfrm>
          <a:prstGeom prst="roundRect">
            <a:avLst>
              <a:gd name="adj" fmla="val 50000"/>
            </a:avLst>
          </a:prstGeom>
          <a:solidFill>
            <a:srgbClr val="FF6A2C"/>
          </a:solidFill>
          <a:ln/>
        </p:spPr>
      </p:sp>
      <p:sp>
        <p:nvSpPr>
          <p:cNvPr id="30" name="Text 25"/>
          <p:cNvSpPr/>
          <p:nvPr/>
        </p:nvSpPr>
        <p:spPr>
          <a:xfrm>
            <a:off x="6647688" y="4023360"/>
            <a:ext cx="8092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Hunyuan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530084" y="4023360"/>
            <a:ext cx="658368" cy="365760"/>
          </a:xfrm>
          <a:prstGeom prst="roundRect">
            <a:avLst>
              <a:gd name="adj" fmla="val 50000"/>
            </a:avLst>
          </a:prstGeom>
          <a:solidFill>
            <a:srgbClr val="FF6A2C">
              <a:alpha val="40000"/>
            </a:srgbClr>
          </a:solidFill>
          <a:ln/>
        </p:spPr>
      </p:sp>
      <p:sp>
        <p:nvSpPr>
          <p:cNvPr id="32" name="Text 27"/>
          <p:cNvSpPr/>
          <p:nvPr/>
        </p:nvSpPr>
        <p:spPr>
          <a:xfrm>
            <a:off x="7530084" y="402336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502920" y="46908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30-second batch scheduler keeps AI verdicts fresh with no human moderator.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tables behind the trust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206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700784"/>
            <a:ext cx="457200" cy="457200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" y="1824228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554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Commerce &amp; catalogue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71600" y="1865376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category · product · cart_item · wishlist · orders · order_item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2505456"/>
            <a:ext cx="4206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49808" y="2743200"/>
            <a:ext cx="457200" cy="457200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" y="286664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5968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trust layer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371600" y="29077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(AI verdict columns) · ai_analysis_log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2920" y="3547872"/>
            <a:ext cx="4206240" cy="93268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49808" y="3785616"/>
            <a:ext cx="457200" cy="457200"/>
          </a:xfrm>
          <a:prstGeom prst="ellipse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" y="3909060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639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71600" y="3950208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· audit_log · inquiry · inquiry_message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937760" y="1463040"/>
            <a:ext cx="3703320" cy="3200400"/>
          </a:xfrm>
          <a:prstGeom prst="roundRect">
            <a:avLst>
              <a:gd name="adj" fmla="val 2286"/>
            </a:avLst>
          </a:prstGeom>
          <a:solidFill>
            <a:srgbClr val="0B1220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212080" y="16642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AI writes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212080" y="20299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 table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212080" y="2286000"/>
            <a:ext cx="784555" cy="256032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212080" y="2286000"/>
            <a:ext cx="7845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6088075" y="2286000"/>
            <a:ext cx="671170" cy="256032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088075" y="2286000"/>
            <a:ext cx="6711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850685" y="2286000"/>
            <a:ext cx="1181405" cy="256032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850685" y="2286000"/>
            <a:ext cx="11814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fake_probability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5212080" y="2633472"/>
            <a:ext cx="897941" cy="256032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212080" y="2633472"/>
            <a:ext cx="897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fake_reason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6201461" y="2633472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6201461" y="263347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is_flagged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7134149" y="2633472"/>
            <a:ext cx="727862" cy="256032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7134149" y="2633472"/>
            <a:ext cx="7278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1FA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5212080" y="30358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table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5212080" y="3291840"/>
            <a:ext cx="1351483" cy="256032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9525">
            <a:solidFill>
              <a:srgbClr val="FF6A2C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212080" y="3291840"/>
            <a:ext cx="135148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trust_score (0-100)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6655003" y="3291840"/>
            <a:ext cx="897941" cy="256032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9525">
            <a:solidFill>
              <a:srgbClr val="FF6A2C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655003" y="3291840"/>
            <a:ext cx="897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trust_level</a:t>
            </a:r>
            <a:endParaRPr lang="en-US" sz="950" dirty="0"/>
          </a:p>
        </p:txBody>
      </p:sp>
      <p:sp>
        <p:nvSpPr>
          <p:cNvPr id="39" name="Shape 34"/>
          <p:cNvSpPr/>
          <p:nvPr/>
        </p:nvSpPr>
        <p:spPr>
          <a:xfrm>
            <a:off x="5212080" y="3639312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9525">
            <a:solidFill>
              <a:srgbClr val="FF6A2C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5212080" y="363931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ai_summary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6144768" y="3639312"/>
            <a:ext cx="1238098" cy="256032"/>
          </a:xfrm>
          <a:prstGeom prst="roundRect">
            <a:avLst>
              <a:gd name="adj" fmla="val 50000"/>
            </a:avLst>
          </a:prstGeom>
          <a:solidFill>
            <a:srgbClr val="111A2E"/>
          </a:solidFill>
          <a:ln w="9525">
            <a:solidFill>
              <a:srgbClr val="FF6A2C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144768" y="3639312"/>
            <a:ext cx="12380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E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fake_review_count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521208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columns for images &amp; specs · indexes on hot paths incl. trust_score · UTF-8mb4 · FK integrity · H2 in MySQL mode for CI</a:t>
            </a:r>
            <a:endParaRPr lang="en-US" sz="950" dirty="0"/>
          </a:p>
        </p:txBody>
      </p:sp>
      <p:sp>
        <p:nvSpPr>
          <p:cNvPr id="44" name="Text 39"/>
          <p:cNvSpPr/>
          <p:nvPr/>
        </p:nvSpPr>
        <p:spPr>
          <a:xfrm>
            <a:off x="502920" y="4791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auto-created on startup; Docker initialises MySQL from backend/sql/schema.sql on first run.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command:  docker compose up -d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8775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645920"/>
            <a:ext cx="457200" cy="457200"/>
          </a:xfrm>
          <a:prstGeom prst="ellipse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1769364"/>
            <a:ext cx="210312" cy="210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7007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80160" y="1993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mysql:8.0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22376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3306 · utf8mb4 · schema.sql auto-init · persistent mysql_data volume · health-checked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82696" y="1463040"/>
            <a:ext cx="258775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65576" y="1645920"/>
            <a:ext cx="457200" cy="457200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769364"/>
            <a:ext cx="210312" cy="2103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59936" y="17007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059936" y="1993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5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:8080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502152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only after MySQL is healthy · JWT + AI keys from environment · port 8080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62472" y="1463040"/>
            <a:ext cx="258775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45352" y="1645920"/>
            <a:ext cx="457200" cy="457200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796" y="176936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39712" y="17007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839712" y="199339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build → nginx :80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281928" y="2286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SPA on port 80 · proxies /api to the backend · port 80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02920" y="3456432"/>
            <a:ext cx="813816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731520" y="3566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(all with safe defaults):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3931920" y="3547872"/>
            <a:ext cx="1090879" cy="27432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/>
        </p:spPr>
      </p:sp>
      <p:sp>
        <p:nvSpPr>
          <p:cNvPr id="25" name="Text 20"/>
          <p:cNvSpPr/>
          <p:nvPr/>
        </p:nvSpPr>
        <p:spPr>
          <a:xfrm>
            <a:off x="3931920" y="3547872"/>
            <a:ext cx="10908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DB_PASSWORD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5150815" y="3547872"/>
            <a:ext cx="1014984" cy="27432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/>
        </p:spPr>
      </p:sp>
      <p:sp>
        <p:nvSpPr>
          <p:cNvPr id="27" name="Text 22"/>
          <p:cNvSpPr/>
          <p:nvPr/>
        </p:nvSpPr>
        <p:spPr>
          <a:xfrm>
            <a:off x="5150815" y="3547872"/>
            <a:ext cx="1014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JWT_SECRET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293815" y="3547872"/>
            <a:ext cx="1470355" cy="27432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/>
        </p:spPr>
      </p:sp>
      <p:sp>
        <p:nvSpPr>
          <p:cNvPr id="29" name="Text 24"/>
          <p:cNvSpPr/>
          <p:nvPr/>
        </p:nvSpPr>
        <p:spPr>
          <a:xfrm>
            <a:off x="6293815" y="3547872"/>
            <a:ext cx="14703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DEEPSEEK_API_KEY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3931920" y="3877056"/>
            <a:ext cx="1166774" cy="27432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/>
        </p:spPr>
      </p:sp>
      <p:sp>
        <p:nvSpPr>
          <p:cNvPr id="31" name="Text 26"/>
          <p:cNvSpPr/>
          <p:nvPr/>
        </p:nvSpPr>
        <p:spPr>
          <a:xfrm>
            <a:off x="3931920" y="3877056"/>
            <a:ext cx="116677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KIMI_API_KEY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226710" y="3877056"/>
            <a:ext cx="1394460" cy="27432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/>
        </p:spPr>
      </p:sp>
      <p:sp>
        <p:nvSpPr>
          <p:cNvPr id="33" name="Text 28"/>
          <p:cNvSpPr/>
          <p:nvPr/>
        </p:nvSpPr>
        <p:spPr>
          <a:xfrm>
            <a:off x="5226710" y="3877056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HUNYUAN_API_KEY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6749186" y="3877056"/>
            <a:ext cx="1394460" cy="274320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/>
        </p:spPr>
      </p:sp>
      <p:sp>
        <p:nvSpPr>
          <p:cNvPr id="35" name="Text 30"/>
          <p:cNvSpPr/>
          <p:nvPr/>
        </p:nvSpPr>
        <p:spPr>
          <a:xfrm>
            <a:off x="6749186" y="3877056"/>
            <a:ext cx="1394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AI_MOCK_ENABLED</a:t>
            </a:r>
            <a:endParaRPr lang="en-US" sz="900" dirty="0"/>
          </a:p>
        </p:txBody>
      </p:sp>
      <p:sp>
        <p:nvSpPr>
          <p:cNvPr id="36" name="Text 31"/>
          <p:cNvSpPr/>
          <p:nvPr/>
        </p:nvSpPr>
        <p:spPr>
          <a:xfrm>
            <a:off x="502920" y="44074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TokenHub key serves DeepSeek + Kimi + Hunyuan · AI_MOCK_ENABLED=true runs fully offline without keys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USES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for buyers, sellers and admins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58775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1664208"/>
            <a:ext cx="548640" cy="548640"/>
          </a:xfrm>
          <a:prstGeom prst="ellipse">
            <a:avLst/>
          </a:prstGeom>
          <a:solidFill>
            <a:srgbClr val="FFE8DB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2573" y="1812341"/>
            <a:ext cx="252374" cy="2523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Buyer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761488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a catalogue, search in plain English, read AI-verified reviews and shop with confidence.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82696" y="1463040"/>
            <a:ext cx="258775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014216" y="1664208"/>
            <a:ext cx="548640" cy="548640"/>
          </a:xfrm>
          <a:prstGeom prst="ellipse">
            <a:avLst/>
          </a:prstGeom>
          <a:solidFill>
            <a:srgbClr val="D1FAE5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349" y="1812341"/>
            <a:ext cx="252374" cy="25237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82696" y="237744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Seller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11296" y="2761488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listings and orders; watch products surface honestly as fake-inflated rivals are filtered.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62472" y="1463040"/>
            <a:ext cx="2587752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793992" y="1664208"/>
            <a:ext cx="548640" cy="548640"/>
          </a:xfrm>
          <a:prstGeom prst="ellipse">
            <a:avLst/>
          </a:prstGeom>
          <a:solidFill>
            <a:srgbClr val="FEF3C7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2125" y="1812341"/>
            <a:ext cx="252374" cy="25237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62472" y="2377440"/>
            <a:ext cx="2587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91072" y="2761488"/>
            <a:ext cx="2130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moderation with a pre-flagged suspicious-review queue and full audit logs.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371246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accounts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023360"/>
          <a:ext cx="5577840" cy="731520"/>
        </p:xfrm>
        <a:graphic>
          <a:graphicData uri="http://schemas.openxmlformats.org/drawingml/2006/table">
            <a:tbl>
              <a:tblPr/>
              <a:tblGrid>
                <a:gridCol w="1188720"/>
                <a:gridCol w="2377440"/>
                <a:gridCol w="2011680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Role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Email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Password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admin@vericart.ai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admin123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seller@vericart.ai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seller123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john@vericart.com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password123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5"/>
          <p:cNvSpPr/>
          <p:nvPr/>
        </p:nvSpPr>
        <p:spPr>
          <a:xfrm>
            <a:off x="6355080" y="397764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reviews deliberately include fakes so you can watch the AI find them and the Trusted Rating drop.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02920" y="4791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it: open a product page and click “Refresh Analysis”.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 to stay honest — and stay online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63040"/>
            <a:ext cx="91440" cy="1097280"/>
          </a:xfrm>
          <a:prstGeom prst="rect">
            <a:avLst/>
          </a:prstGeom>
          <a:solidFill>
            <a:srgbClr val="FF6A2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910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286000" y="16459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 tests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0" y="19751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5 + H2 in-memory (MySQL mode)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17720" y="146304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17720" y="1463040"/>
            <a:ext cx="91440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9105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400800" y="164592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tests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97510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+ Vue Test Utils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69748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697480"/>
            <a:ext cx="91440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82549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~30 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286000" y="2880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86000" y="32095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keeps every verdict fresh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697480"/>
            <a:ext cx="402336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5EAF1"/>
            </a:solidFill>
            <a:prstDash val="solid"/>
          </a:ln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17720" y="2697480"/>
            <a:ext cx="91440" cy="10972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82549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3-way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400800" y="2880360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fallback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0" y="3209544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 → DeepSeek → mock, never a blank answer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3858768"/>
            <a:ext cx="329184" cy="329184"/>
          </a:xfrm>
          <a:prstGeom prst="ellipse">
            <a:avLst/>
          </a:prstGeom>
          <a:solidFill>
            <a:srgbClr val="E8EEF4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808" y="3947648"/>
            <a:ext cx="151425" cy="151425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005840" y="3831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2606040" y="383133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action recorded (FR-069 / FR-070)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66928" y="4169664"/>
            <a:ext cx="329184" cy="329184"/>
          </a:xfrm>
          <a:prstGeom prst="ellipse">
            <a:avLst/>
          </a:prstGeom>
          <a:solidFill>
            <a:srgbClr val="E8EEF4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08" y="4258544"/>
            <a:ext cx="151425" cy="151425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005840" y="41422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Bilingual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2606040" y="41422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English / 中文 interface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66928" y="4480560"/>
            <a:ext cx="329184" cy="329184"/>
          </a:xfrm>
          <a:prstGeom prst="ellipse">
            <a:avLst/>
          </a:prstGeom>
          <a:solidFill>
            <a:srgbClr val="E8EEF4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08" y="4569440"/>
            <a:ext cx="151425" cy="151425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005840" y="44531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5" name="Text 30"/>
          <p:cNvSpPr/>
          <p:nvPr/>
        </p:nvSpPr>
        <p:spPr>
          <a:xfrm>
            <a:off x="2606040" y="445312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+ role-based access on every endpoint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502920" y="4791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friendly: one Maven command + one Vitest command.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8275320" y="47914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FF6A2C"/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3291840"/>
            <a:ext cx="4206240" cy="4206240"/>
          </a:xfrm>
          <a:prstGeom prst="ellipse">
            <a:avLst/>
          </a:prstGeom>
          <a:solidFill>
            <a:srgbClr val="FF6A2C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is the product.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148840"/>
            <a:ext cx="6309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VeriCart AI turns the fake-review problem into a defensible advantage: every review analysed, every score explained, every buyer informed.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A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3602736"/>
            <a:ext cx="109728" cy="109728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520440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Trust Score API for third-party marketplaces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913632"/>
            <a:ext cx="109728" cy="109728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831336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nudges that coach sellers to fix weak listings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" y="4224528"/>
            <a:ext cx="109728" cy="109728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14223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Cross-account fraud graph in real 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4535424"/>
            <a:ext cx="109728" cy="109728"/>
          </a:xfrm>
          <a:prstGeom prst="ellipse">
            <a:avLst/>
          </a:prstGeom>
          <a:solidFill>
            <a:srgbClr val="FF6A2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453128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PWA for shopping on the go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0" y="822960"/>
            <a:ext cx="822960" cy="822960"/>
          </a:xfrm>
          <a:prstGeom prst="ellipse">
            <a:avLst/>
          </a:prstGeom>
          <a:solidFill>
            <a:srgbClr val="FF6A2C"/>
          </a:solidFill>
          <a:ln/>
          <a:effectLst>
            <a:outerShdw sx="100000" sy="100000" kx="0" ky="0" algn="bl" rotWithShape="0" blurRad="101600" dist="38100" dir="8100000">
              <a:srgbClr val="0B1220">
                <a:alpha val="15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599" y="1045159"/>
            <a:ext cx="378562" cy="37856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02920" y="479145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VeriCart AI · Developed as an internship training project · DeepSeek · Kimi · Hunyuan · Vue 3 · Spring Boot · MySQL · Docker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VeriCart AI — AI-Powered E-Commerce Trust Platform</dc:title>
  <dc:subject>PptxGenJS Presentation</dc:subject>
  <dc:creator>VeriCart AI</dc:creator>
  <cp:lastModifiedBy>VeriCart AI</cp:lastModifiedBy>
  <cp:revision>1</cp:revision>
  <dcterms:created xsi:type="dcterms:W3CDTF">2026-09-10T00:46:34Z</dcterms:created>
  <dcterms:modified xsi:type="dcterms:W3CDTF">2026-09-10T00:46:34Z</dcterms:modified>
</cp:coreProperties>
</file>